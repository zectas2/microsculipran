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omfortaa Bold" panose="020B0604020202020204" charset="0"/>
      <p:regular r:id="rId9"/>
    </p:embeddedFont>
    <p:embeddedFont>
      <p:font typeface="Raleway Bold" panose="020B0604020202020204" charset="0"/>
      <p:regular r:id="rId10"/>
    </p:embeddedFont>
    <p:embeddedFont>
      <p:font typeface="Raleway Medium" pitchFamily="2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0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1558925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MicrosCulipran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2438995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Plataforma de Monitoreo para Transporte Rural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0012" y="2999581"/>
            <a:ext cx="6179784" cy="2299494"/>
          </a:xfrm>
          <a:prstGeom prst="roundRect">
            <a:avLst>
              <a:gd name="adj" fmla="val 13420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720012" y="2999581"/>
            <a:ext cx="6179784" cy="1149747"/>
          </a:xfrm>
          <a:custGeom>
            <a:avLst/>
            <a:gdLst/>
            <a:ahLst/>
            <a:cxnLst/>
            <a:rect l="l" t="t" r="r" b="b"/>
            <a:pathLst>
              <a:path w="6179784" h="1149747">
                <a:moveTo>
                  <a:pt x="257169" y="0"/>
                </a:moveTo>
                <a:lnTo>
                  <a:pt x="5922616" y="0"/>
                </a:lnTo>
                <a:arcTo wR="257169" hR="257175" stAng="16200000" swAng="5400000"/>
                <a:lnTo>
                  <a:pt x="6179784" y="1149747"/>
                </a:lnTo>
                <a:lnTo>
                  <a:pt x="0" y="1149747"/>
                </a:lnTo>
                <a:lnTo>
                  <a:pt x="0" y="257175"/>
                </a:lnTo>
                <a:arcTo wR="257169" hR="257175" stAng="10800000" swAng="5400000"/>
                <a:close/>
              </a:path>
            </a:pathLst>
          </a:cu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925688" y="3205262"/>
            <a:ext cx="57684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Ignacio Cornejo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25688" y="3614440"/>
            <a:ext cx="576843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Project Manager &amp; Frontend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0012" y="4149328"/>
            <a:ext cx="6179784" cy="1149747"/>
          </a:xfrm>
          <a:custGeom>
            <a:avLst/>
            <a:gdLst/>
            <a:ahLst/>
            <a:cxnLst/>
            <a:rect l="l" t="t" r="r" b="b"/>
            <a:pathLst>
              <a:path w="6179784" h="1149747">
                <a:moveTo>
                  <a:pt x="0" y="0"/>
                </a:moveTo>
                <a:lnTo>
                  <a:pt x="6179784" y="0"/>
                </a:lnTo>
                <a:lnTo>
                  <a:pt x="6179784" y="892572"/>
                </a:lnTo>
                <a:arcTo wR="257169" hR="257175" stAng="0" swAng="5400000"/>
                <a:lnTo>
                  <a:pt x="257169" y="1149747"/>
                </a:lnTo>
                <a:arcTo wR="257169" hR="257175" stAng="5400000" swAng="5400000"/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720012" y="4149328"/>
            <a:ext cx="6179784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925688" y="4355009"/>
            <a:ext cx="57684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Pablo Chacón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25688" y="4764187"/>
            <a:ext cx="576843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Backend &amp; QA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752005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Asimetría de Información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2632075"/>
            <a:ext cx="3446773" cy="2473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2685" y="2863155"/>
            <a:ext cx="28830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Incertidumbre en tiempos de llegada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052685" y="3558084"/>
            <a:ext cx="2883026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Los pasajeros no disponen de información en tiempo real sobre la ubicación y el horario estimado de los buses.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2461" y="2632075"/>
            <a:ext cx="3446773" cy="2473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5133" y="2863155"/>
            <a:ext cx="28830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Desconocimiento de tarifas por tramo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705133" y="3558084"/>
            <a:ext cx="2883026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Ausencia de un sistema transparente que informe los costes exactos según el recorrido realizado.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4909" y="2632075"/>
            <a:ext cx="3446773" cy="2473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7582" y="2863155"/>
            <a:ext cx="28830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Falta de digitalización operativa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357582" y="3558084"/>
            <a:ext cx="2883026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 sector de Culiprán carece de herramientas digitales para la gestión y supervisión del transporte rural.</a:t>
            </a:r>
            <a:endParaRPr lang="en-US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13CDAA8-BA14-423B-23A0-38477EE06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582" y="6187382"/>
            <a:ext cx="1676545" cy="670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7184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Ecosistema Tecnológico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1954808"/>
            <a:ext cx="10751670" cy="1152029"/>
          </a:xfrm>
          <a:prstGeom prst="roundRect">
            <a:avLst>
              <a:gd name="adj" fmla="val 26788"/>
            </a:avLst>
          </a:prstGeom>
          <a:solidFill>
            <a:srgbClr val="806A0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88" y="2247801"/>
            <a:ext cx="257169" cy="205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8532" y="2211884"/>
            <a:ext cx="987747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Objetivo General:</a:t>
            </a:r>
            <a:r>
              <a:rPr lang="en-US" sz="16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Desarrollar una plataforma integral de monitoreo web/móvil para el transporte rural de Culiprán.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12" y="3338215"/>
            <a:ext cx="1979166" cy="1223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0012" y="4818559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App Conductor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20012" y="5227737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Transmisión de telemetría GPS en tiempo real desde el vehículo.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625" y="3338215"/>
            <a:ext cx="1979166" cy="1223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9625" y="4818559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Vista Pasajero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4389625" y="5227737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Mapa interactivo con ubicación del bus y visor de tarifas por tramo.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238" y="3338215"/>
            <a:ext cx="1979166" cy="12231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59238" y="4818559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Panel Administrador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059238" y="5227737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Gestión centralizada de flotas, conductores y recorridos.</a:t>
            </a:r>
            <a:endParaRPr lang="en-US" sz="1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BE6FCB0-ACDB-4C80-BA36-360E826060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235" y="6187382"/>
            <a:ext cx="1676545" cy="6706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25809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Stack Tecnológico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2369542"/>
            <a:ext cx="2459571" cy="1561207"/>
          </a:xfrm>
          <a:prstGeom prst="roundRect">
            <a:avLst>
              <a:gd name="adj" fmla="val 19767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925688" y="2575223"/>
            <a:ext cx="20482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Laravel (PHP)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25688" y="3066653"/>
            <a:ext cx="204822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Lógica de negocio y backend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5259" y="2369542"/>
            <a:ext cx="2459670" cy="1561207"/>
          </a:xfrm>
          <a:prstGeom prst="roundRect">
            <a:avLst>
              <a:gd name="adj" fmla="val 19767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590934" y="2575223"/>
            <a:ext cx="2048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Supabase (PostgreSQL)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590934" y="3352403"/>
            <a:ext cx="204832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0012" y="4136430"/>
            <a:ext cx="5124917" cy="1231999"/>
          </a:xfrm>
          <a:prstGeom prst="roundRect">
            <a:avLst>
              <a:gd name="adj" fmla="val 25049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25688" y="4342110"/>
            <a:ext cx="471356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Patrón MVC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25688" y="4833541"/>
            <a:ext cx="471356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Arquitectura Modelo 4+1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3115" y="2343845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Competencias Aplicadas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353115" y="2835275"/>
            <a:ext cx="5124917" cy="1131491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Arquitectura de Software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Bases de Datos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Aseguramiento de Calidad (QA)</a:t>
            </a:r>
            <a:endParaRPr lang="en-US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8C5B1C2-4E07-AF0A-13D0-1432EFDA6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455" y="6187382"/>
            <a:ext cx="1676545" cy="6706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9998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Desarrollo Ágil y Evidencias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1682948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 proyecto se ejecuta bajo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Scrum adaptado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con sprints de dos semanas, garantizando entregas incrementales y retroalimentación continua durante los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 meses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de ejecución.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0012" y="2804120"/>
            <a:ext cx="4899795" cy="3122414"/>
          </a:xfrm>
          <a:prstGeom prst="roundRect">
            <a:avLst>
              <a:gd name="adj" fmla="val 9883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20012" y="2804120"/>
            <a:ext cx="4899795" cy="1561207"/>
          </a:xfrm>
          <a:custGeom>
            <a:avLst/>
            <a:gdLst/>
            <a:ahLst/>
            <a:cxnLst/>
            <a:rect l="l" t="t" r="r" b="b"/>
            <a:pathLst>
              <a:path w="4899795" h="1561207">
                <a:moveTo>
                  <a:pt x="257169" y="0"/>
                </a:moveTo>
                <a:lnTo>
                  <a:pt x="4642627" y="0"/>
                </a:lnTo>
                <a:arcTo wR="257169" hR="257175" stAng="16200000" swAng="5400000"/>
                <a:lnTo>
                  <a:pt x="4899795" y="1561207"/>
                </a:lnTo>
                <a:lnTo>
                  <a:pt x="0" y="1561207"/>
                </a:lnTo>
                <a:lnTo>
                  <a:pt x="0" y="257175"/>
                </a:lnTo>
                <a:arcTo wR="257169" hR="257175" stAng="10800000" swAng="5400000"/>
                <a:close/>
              </a:path>
            </a:pathLst>
          </a:cu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25688" y="3009801"/>
            <a:ext cx="44884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Charter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25688" y="3501231"/>
            <a:ext cx="448844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Documento de alcance y objetivos formales del proyecto.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012" y="4365327"/>
            <a:ext cx="4899795" cy="1561207"/>
          </a:xfrm>
          <a:custGeom>
            <a:avLst/>
            <a:gdLst/>
            <a:ahLst/>
            <a:cxnLst/>
            <a:rect l="l" t="t" r="r" b="b"/>
            <a:pathLst>
              <a:path w="4899795" h="1561207">
                <a:moveTo>
                  <a:pt x="0" y="0"/>
                </a:moveTo>
                <a:lnTo>
                  <a:pt x="4899795" y="0"/>
                </a:lnTo>
                <a:lnTo>
                  <a:pt x="4899795" y="1304032"/>
                </a:lnTo>
                <a:arcTo wR="257169" hR="257175" stAng="0" swAng="5400000"/>
                <a:lnTo>
                  <a:pt x="257169" y="1561207"/>
                </a:lnTo>
                <a:arcTo wR="257169" hR="257175" stAng="5400000" swAng="5400000"/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20012" y="4365327"/>
            <a:ext cx="4899795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25688" y="4571008"/>
            <a:ext cx="44884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Documento de Requisitos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25688" y="5062438"/>
            <a:ext cx="448844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Especificación funcional y no funcional del sistema.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994" y="2804120"/>
            <a:ext cx="5349940" cy="23485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35569" y="4493175"/>
            <a:ext cx="937782" cy="12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Planificación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35569" y="4663217"/>
            <a:ext cx="937782" cy="23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Charter y requisitos iniciales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9668574" y="4457105"/>
            <a:ext cx="937782" cy="128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Entrega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668574" y="4627147"/>
            <a:ext cx="937782" cy="23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Validación y entregas en 3 meses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359800" y="3050396"/>
            <a:ext cx="937783" cy="12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Desarrollo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59800" y="3220438"/>
            <a:ext cx="937783" cy="23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Sprints iterativos de 2 semanas</a:t>
            </a:r>
            <a:endParaRPr lang="en-US" sz="7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6440237-5581-C7D1-6432-D0853A79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217" y="6134995"/>
            <a:ext cx="1676545" cy="670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88" y="1938933"/>
            <a:ext cx="4366210" cy="29800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91898" y="976114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Viabilidad de Ejecución</a:t>
            </a:r>
            <a:endParaRPr lang="en-US" sz="35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898" y="1856184"/>
            <a:ext cx="514337" cy="5143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63404" y="1856184"/>
            <a:ext cx="54082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Presupuesto Cubierto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6063404" y="2265363"/>
            <a:ext cx="540827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Recursos tecnológicos y costes iniciales completamente financiados.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1898" y="3335238"/>
            <a:ext cx="514337" cy="5143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63404" y="3335238"/>
            <a:ext cx="54082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Mitigación de Riesgos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6063404" y="3744416"/>
            <a:ext cx="540827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Caché de coordenadas GPS para operar en zonas sin cobertura móvil.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4814292"/>
            <a:ext cx="514337" cy="5143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63404" y="4814292"/>
            <a:ext cx="54082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Equipo Equilibrado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6063404" y="5223470"/>
            <a:ext cx="540827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Roles complementarios (PM, Frontend, Backend, QA) para garantizar el éxito del proyecto.</a:t>
            </a:r>
            <a:endParaRPr lang="en-US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A891AC9-F113-F5F6-5426-B462FA4372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455" y="6116809"/>
            <a:ext cx="1676545" cy="6706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Panorámica</PresentationFormat>
  <Paragraphs>57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Comfortaa Bold</vt:lpstr>
      <vt:lpstr>Raleway Bold</vt:lpstr>
      <vt:lpstr>Raleway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IGNACIO ANTONIO CORNEJO ZAVALA</cp:lastModifiedBy>
  <cp:revision>2</cp:revision>
  <dcterms:created xsi:type="dcterms:W3CDTF">2026-08-31T01:35:09Z</dcterms:created>
  <dcterms:modified xsi:type="dcterms:W3CDTF">2026-08-31T01:33:37Z</dcterms:modified>
</cp:coreProperties>
</file>